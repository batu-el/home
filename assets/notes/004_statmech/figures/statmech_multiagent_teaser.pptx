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1106424"/>
            <a:ext cx="5760720" cy="4718304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435608"/>
            <a:ext cx="91440" cy="9144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325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282"/>
                </a:solidFill>
                <a:latin typeface="Calibri"/>
              </a:rPr>
              <a:t>FROM MAGNETS TO AGENT SOCIETIES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824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2937"/>
                </a:solidFill>
                <a:latin typeface="Calibri"/>
              </a:rPr>
              <a:t>Spin glass as a model of opinion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9384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C5282"/>
                </a:solidFill>
                <a:latin typeface="Calibri"/>
              </a:rPr>
              <a:t>CURIE MAGNET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mean-field, 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29384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C5282"/>
                </a:solidFill>
                <a:latin typeface="Calibri"/>
              </a:rPr>
              <a:t>SPIN GLASS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84832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random couplings, frustrated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9384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C5282"/>
                </a:solidFill>
                <a:latin typeface="Calibri"/>
              </a:rPr>
              <a:t>AGENT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84832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personas + signed 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3704"/>
            <a:ext cx="1645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203704"/>
            <a:ext cx="1645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2203704"/>
            <a:ext cx="1645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2478024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780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7" name="Oval 16"/>
          <p:cNvSpPr/>
          <p:nvPr/>
        </p:nvSpPr>
        <p:spPr>
          <a:xfrm>
            <a:off x="1133856" y="2478024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24780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Oval 18"/>
          <p:cNvSpPr/>
          <p:nvPr/>
        </p:nvSpPr>
        <p:spPr>
          <a:xfrm>
            <a:off x="1444752" y="2478024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24780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Oval 20"/>
          <p:cNvSpPr/>
          <p:nvPr/>
        </p:nvSpPr>
        <p:spPr>
          <a:xfrm>
            <a:off x="1755648" y="2478024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55648" y="24780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2807208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80720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5" name="Oval 24"/>
          <p:cNvSpPr/>
          <p:nvPr/>
        </p:nvSpPr>
        <p:spPr>
          <a:xfrm>
            <a:off x="1133856" y="2807208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280720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7" name="Oval 26"/>
          <p:cNvSpPr/>
          <p:nvPr/>
        </p:nvSpPr>
        <p:spPr>
          <a:xfrm>
            <a:off x="1444752" y="2807208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4752" y="280720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9" name="Oval 28"/>
          <p:cNvSpPr/>
          <p:nvPr/>
        </p:nvSpPr>
        <p:spPr>
          <a:xfrm>
            <a:off x="1755648" y="2807208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55648" y="280720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136392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13639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3" name="Oval 32"/>
          <p:cNvSpPr/>
          <p:nvPr/>
        </p:nvSpPr>
        <p:spPr>
          <a:xfrm>
            <a:off x="1133856" y="3136392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313639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5" name="Oval 34"/>
          <p:cNvSpPr/>
          <p:nvPr/>
        </p:nvSpPr>
        <p:spPr>
          <a:xfrm>
            <a:off x="1444752" y="3136392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44752" y="313639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7" name="Oval 36"/>
          <p:cNvSpPr/>
          <p:nvPr/>
        </p:nvSpPr>
        <p:spPr>
          <a:xfrm>
            <a:off x="1755648" y="3136392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55648" y="313639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39242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all aligned — single phase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54680.0" y="243230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590221.4960712697" y="2638044.0"/>
            <a:ext cx="0.0" cy="411480.0"/>
          </a:xfrm>
          <a:prstGeom prst="line">
            <a:avLst/>
          </a:prstGeom>
          <a:ln w="1778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154680.0" y="304952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719138.5039287303" y="304952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719138.5039287303" y="2638044.0"/>
            <a:ext cx="0.0" cy="411480.0"/>
          </a:xfrm>
          <a:prstGeom prst="line">
            <a:avLst/>
          </a:prstGeom>
          <a:ln w="1778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19138.5039287303" y="243230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54680.0" y="2432304.0"/>
            <a:ext cx="435541.49607126974" cy="61722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154680.0" y="2432304.0"/>
            <a:ext cx="0.0" cy="822960.0"/>
          </a:xfrm>
          <a:prstGeom prst="line">
            <a:avLst/>
          </a:prstGeom>
          <a:ln w="1778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719138.5039287303" y="2638044.0"/>
            <a:ext cx="871082.9921425395" cy="41148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054096" y="2331720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54096" y="2331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1" name="Oval 50"/>
          <p:cNvSpPr/>
          <p:nvPr/>
        </p:nvSpPr>
        <p:spPr>
          <a:xfrm>
            <a:off x="3489637" y="2537460"/>
            <a:ext cx="201168" cy="20116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9637" y="25374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53" name="Oval 52"/>
          <p:cNvSpPr/>
          <p:nvPr/>
        </p:nvSpPr>
        <p:spPr>
          <a:xfrm>
            <a:off x="3489637" y="2948940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89637" y="29489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5" name="Oval 54"/>
          <p:cNvSpPr/>
          <p:nvPr/>
        </p:nvSpPr>
        <p:spPr>
          <a:xfrm>
            <a:off x="3054096" y="3154680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54096" y="31546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7" name="Oval 56"/>
          <p:cNvSpPr/>
          <p:nvPr/>
        </p:nvSpPr>
        <p:spPr>
          <a:xfrm>
            <a:off x="2618554" y="2948940"/>
            <a:ext cx="201168" cy="20116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18554" y="29489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59" name="Oval 58"/>
          <p:cNvSpPr/>
          <p:nvPr/>
        </p:nvSpPr>
        <p:spPr>
          <a:xfrm>
            <a:off x="2618554" y="2537460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18554" y="25374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23160" y="339242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many local minima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937760.0" y="243230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373301.49607127" y="2638044.0"/>
            <a:ext cx="0.0" cy="411480.0"/>
          </a:xfrm>
          <a:prstGeom prst="line">
            <a:avLst/>
          </a:prstGeom>
          <a:ln w="1778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4937760.0" y="304952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4502218.50392873" y="304952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502218.50392873" y="2638044.0"/>
            <a:ext cx="0.0" cy="411480.0"/>
          </a:xfrm>
          <a:prstGeom prst="line">
            <a:avLst/>
          </a:prstGeom>
          <a:ln w="1778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502218.50392873" y="2432304.0"/>
            <a:ext cx="435541.49607126974" cy="20574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37760.0" y="2432304.0"/>
            <a:ext cx="435541.49607126974" cy="61722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37760.0" y="2432304.0"/>
            <a:ext cx="0.0" cy="822960.0"/>
          </a:xfrm>
          <a:prstGeom prst="line">
            <a:avLst/>
          </a:prstGeom>
          <a:ln w="1778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4502218.50392873" y="2638044.0"/>
            <a:ext cx="871082.9921425395" cy="411480.0"/>
          </a:xfrm>
          <a:prstGeom prst="line">
            <a:avLst/>
          </a:prstGeom>
          <a:ln w="1778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837176" y="2331720"/>
            <a:ext cx="201168" cy="201168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37176" y="2331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3" name="Oval 72"/>
          <p:cNvSpPr/>
          <p:nvPr/>
        </p:nvSpPr>
        <p:spPr>
          <a:xfrm>
            <a:off x="5272717" y="253746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72717" y="25374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5" name="Oval 74"/>
          <p:cNvSpPr/>
          <p:nvPr/>
        </p:nvSpPr>
        <p:spPr>
          <a:xfrm>
            <a:off x="5272717" y="2948940"/>
            <a:ext cx="201168" cy="20116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72717" y="29489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Oval 76"/>
          <p:cNvSpPr/>
          <p:nvPr/>
        </p:nvSpPr>
        <p:spPr>
          <a:xfrm>
            <a:off x="4837176" y="3154680"/>
            <a:ext cx="201168" cy="201168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37176" y="31546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9" name="Oval 78"/>
          <p:cNvSpPr/>
          <p:nvPr/>
        </p:nvSpPr>
        <p:spPr>
          <a:xfrm>
            <a:off x="4401634" y="2948940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01634" y="29489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1" name="Oval 80"/>
          <p:cNvSpPr/>
          <p:nvPr/>
        </p:nvSpPr>
        <p:spPr>
          <a:xfrm>
            <a:off x="4401634" y="2537460"/>
            <a:ext cx="201168" cy="201168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01634" y="25374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06240" y="339242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LLM personas on signed graph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203704" y="2912364.0"/>
            <a:ext cx="118872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986784" y="2912364.0"/>
            <a:ext cx="118872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548640" y="3822192"/>
            <a:ext cx="517550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3547872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  <a:latin typeface="Calibri"/>
              </a:rPr>
              <a:t>EFFECTIVE HAMILTONIAN  ON THE AGENT GRAPH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931920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1">
                <a:solidFill>
                  <a:srgbClr val="1F2937"/>
                </a:solidFill>
                <a:latin typeface="Cambria Math"/>
              </a:rPr>
              <a:t>H</a:t>
            </a:r>
            <a:r>
              <a:rPr sz="1100" b="0" i="1">
                <a:solidFill>
                  <a:srgbClr val="1F2937"/>
                </a:solidFill>
                <a:latin typeface="Cambria Math"/>
              </a:rPr>
              <a:t>J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(S) = − Σ </a:t>
            </a:r>
            <a:r>
              <a:rPr sz="1800" b="1" i="1">
                <a:solidFill>
                  <a:srgbClr val="2E8B57"/>
                </a:solidFill>
                <a:latin typeface="Cambria Math"/>
              </a:rPr>
              <a:t>J</a:t>
            </a:r>
            <a:r>
              <a:rPr sz="1100" b="0" i="1">
                <a:solidFill>
                  <a:srgbClr val="2E8B57"/>
                </a:solidFill>
                <a:latin typeface="Cambria Math"/>
              </a:rPr>
              <a:t>ij</a:t>
            </a:r>
            <a:r>
              <a:rPr sz="1800" b="1" i="1">
                <a:solidFill>
                  <a:srgbClr val="1F2937"/>
                </a:solidFill>
                <a:latin typeface="Cambria Math"/>
              </a:rPr>
              <a:t> S</a:t>
            </a:r>
            <a:r>
              <a:rPr sz="1100" b="0" i="1">
                <a:solidFill>
                  <a:srgbClr val="1F2937"/>
                </a:solidFill>
                <a:latin typeface="Cambria Math"/>
              </a:rPr>
              <a:t>i</a:t>
            </a:r>
            <a:r>
              <a:rPr sz="1800" b="1" i="1">
                <a:solidFill>
                  <a:srgbClr val="1F2937"/>
                </a:solidFill>
                <a:latin typeface="Cambria Math"/>
              </a:rPr>
              <a:t> S</a:t>
            </a:r>
            <a:r>
              <a:rPr sz="1100" b="0" i="1">
                <a:solidFill>
                  <a:srgbClr val="1F2937"/>
                </a:solidFill>
                <a:latin typeface="Cambria Math"/>
              </a:rPr>
              <a:t>j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  − Σ </a:t>
            </a:r>
            <a:r>
              <a:rPr sz="1800" b="1" i="1">
                <a:solidFill>
                  <a:srgbClr val="D35400"/>
                </a:solidFill>
                <a:latin typeface="Cambria Math"/>
              </a:rPr>
              <a:t>h</a:t>
            </a:r>
            <a:r>
              <a:rPr sz="1100" b="0" i="1">
                <a:solidFill>
                  <a:srgbClr val="D35400"/>
                </a:solidFill>
                <a:latin typeface="Cambria Math"/>
              </a:rPr>
              <a:t>i</a:t>
            </a:r>
            <a:r>
              <a:rPr sz="1800" b="1" i="1">
                <a:solidFill>
                  <a:srgbClr val="1F2937"/>
                </a:solidFill>
                <a:latin typeface="Cambria Math"/>
              </a:rPr>
              <a:t> S</a:t>
            </a:r>
            <a:r>
              <a:rPr sz="1100" b="0" i="1">
                <a:solidFill>
                  <a:srgbClr val="1F2937"/>
                </a:solidFill>
                <a:latin typeface="Cambria Math"/>
              </a:rPr>
              <a:t>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4352544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Calibri"/>
              </a:rPr>
              <a:t>social tie (signed) </a:t>
            </a:r>
            <a:r>
              <a:rPr sz="950" b="0" i="0">
                <a:solidFill>
                  <a:srgbClr val="6B7280"/>
                </a:solidFill>
                <a:latin typeface="Calibri"/>
              </a:rPr>
              <a:t>·  </a:t>
            </a:r>
            <a:r>
              <a:rPr sz="950" b="1" i="0">
                <a:solidFill>
                  <a:srgbClr val="D35400"/>
                </a:solidFill>
                <a:latin typeface="Calibri"/>
              </a:rPr>
              <a:t>persona prior </a:t>
            </a:r>
            <a:r>
              <a:rPr sz="950" b="0" i="0">
                <a:solidFill>
                  <a:srgbClr val="6B7280"/>
                </a:solidFill>
                <a:latin typeface="Calibri"/>
              </a:rPr>
              <a:t>·  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stance </a:t>
            </a:r>
            <a:r>
              <a:rPr sz="950" b="1" i="1">
                <a:solidFill>
                  <a:srgbClr val="1F2937"/>
                </a:solidFill>
                <a:latin typeface="Cambria Math"/>
              </a:rPr>
              <a:t>S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 ∈ {−1, +1}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00216" y="1106424"/>
            <a:ext cx="5760720" cy="4718304"/>
          </a:xfrm>
          <a:prstGeom prst="roundRect">
            <a:avLst>
              <a:gd name="adj" fmla="val 4000"/>
            </a:avLst>
          </a:prstGeom>
          <a:solidFill>
            <a:srgbClr val="FB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592824" y="1435608"/>
            <a:ext cx="91440" cy="91440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66560" y="1325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2382C"/>
                </a:solidFill>
                <a:latin typeface="Calibri"/>
              </a:rPr>
              <a:t>PREDICT EMPIRICAL PHENOMENA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92824" y="16824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2937"/>
                </a:solidFill>
                <a:latin typeface="Calibri"/>
              </a:rPr>
              <a:t>Replica &amp; cavity methods predict opinion phases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92824" y="1929384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92382C"/>
                </a:solidFill>
                <a:latin typeface="Calibri"/>
              </a:rPr>
              <a:t>REPLICA METHOD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92824" y="208483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E_J[Z^n]  ⇒  overlap matrix  Q_ab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90304" y="1929384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92382C"/>
                </a:solidFill>
                <a:latin typeface="Calibri"/>
              </a:rPr>
              <a:t>CAVITY METHOD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90304" y="208483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leave-one-out  ⇒  message passing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592824" y="2203704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290304" y="2203704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6858000" y="2441448"/>
            <a:ext cx="228600" cy="9144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086600" y="2441448"/>
            <a:ext cx="228600" cy="9144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7086600" y="2532888"/>
            <a:ext cx="228600" cy="118872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6858000" y="2532888"/>
            <a:ext cx="228600" cy="118872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858000" y="2532888"/>
            <a:ext cx="457200" cy="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803136" y="2478024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031736" y="2386584"/>
            <a:ext cx="109728" cy="10972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260336" y="2478024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031736" y="2596896"/>
            <a:ext cx="109728" cy="10972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592824" y="24048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2937"/>
                </a:solidFill>
                <a:latin typeface="Cambria Math"/>
              </a:rPr>
              <a:t>S</a:t>
            </a:r>
            <a:r>
              <a:rPr sz="700" b="1" i="0">
                <a:solidFill>
                  <a:srgbClr val="1F2937"/>
                </a:solidFill>
                <a:latin typeface="Cambria Math"/>
              </a:rPr>
              <a:t>1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6903720" y="2825496"/>
            <a:ext cx="228600" cy="9144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132320" y="2825496"/>
            <a:ext cx="228600" cy="9144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132320" y="2916936"/>
            <a:ext cx="228600" cy="118872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6903720" y="2916936"/>
            <a:ext cx="228600" cy="118872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903720" y="2916936"/>
            <a:ext cx="457200" cy="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6848856" y="2862072"/>
            <a:ext cx="109728" cy="10972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077456" y="2770632"/>
            <a:ext cx="109728" cy="10972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306056" y="2862072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077456" y="2980944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638544" y="278892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2937"/>
                </a:solidFill>
                <a:latin typeface="Cambria Math"/>
              </a:rPr>
              <a:t>S</a:t>
            </a:r>
            <a:r>
              <a:rPr sz="700" b="1" i="0">
                <a:solidFill>
                  <a:srgbClr val="1F2937"/>
                </a:solidFill>
                <a:latin typeface="Cambria Math"/>
              </a:rPr>
              <a:t>2</a:t>
            </a:r>
          </a:p>
        </p:txBody>
      </p:sp>
      <p:cxnSp>
        <p:nvCxnSpPr>
          <p:cNvPr id="120" name="Connector 119"/>
          <p:cNvCxnSpPr/>
          <p:nvPr/>
        </p:nvCxnSpPr>
        <p:spPr>
          <a:xfrm flipV="1">
            <a:off x="6949440" y="3209544"/>
            <a:ext cx="228600" cy="9144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178040" y="3209544"/>
            <a:ext cx="228600" cy="9144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7178040" y="3300984"/>
            <a:ext cx="228600" cy="118872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6949440" y="3300984"/>
            <a:ext cx="228600" cy="118872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949440" y="3300984"/>
            <a:ext cx="457200" cy="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6894576" y="3246120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123176" y="3154680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351776" y="3246120"/>
            <a:ext cx="109728" cy="10972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123176" y="3364992"/>
            <a:ext cx="109728" cy="10972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684264" y="317296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2937"/>
                </a:solidFill>
                <a:latin typeface="Cambria Math"/>
              </a:rPr>
              <a:t>S</a:t>
            </a:r>
            <a:r>
              <a:rPr sz="700" b="1" i="0">
                <a:solidFill>
                  <a:srgbClr val="1F2937"/>
                </a:solidFill>
                <a:latin typeface="Cambria Math"/>
              </a:rPr>
              <a:t>3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7552944" y="2912364.0"/>
            <a:ext cx="457200" cy="0.0"/>
          </a:xfrm>
          <a:prstGeom prst="line">
            <a:avLst/>
          </a:prstGeom>
          <a:ln w="2032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ight Triangle 130"/>
          <p:cNvSpPr/>
          <p:nvPr/>
        </p:nvSpPr>
        <p:spPr>
          <a:xfrm rot="5400000">
            <a:off x="7973568" y="2857500"/>
            <a:ext cx="91440" cy="109728"/>
          </a:xfrm>
          <a:prstGeom prst="rtTriangl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07224" y="265633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E_J[ · ]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101584" y="243230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C4453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01584" y="2432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375904" y="243230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D3766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375904" y="2432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0.72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650224" y="243230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E4ACA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50224" y="2432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0.41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101584" y="270662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D3766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101584" y="2706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0.72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375904" y="270662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C4453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375904" y="2706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650224" y="270662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D887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650224" y="2706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0.62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101584" y="29809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E4ACA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101584" y="2980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0.41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375904" y="29809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D887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375904" y="2980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0.62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650224" y="29809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C4453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50224" y="2980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010144" y="330098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1F2937"/>
                </a:solidFill>
                <a:latin typeface="Cambria Math"/>
              </a:rPr>
              <a:t>Q</a:t>
            </a:r>
            <a:r>
              <a:rPr sz="800" b="0" i="1">
                <a:solidFill>
                  <a:srgbClr val="1F2937"/>
                </a:solidFill>
                <a:latin typeface="Cambria Math"/>
              </a:rPr>
              <a:t>ab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overlap matrix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0570464.0" y="2432304.0"/>
            <a:ext cx="0.0" cy="411480.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10570464.0" y="2716629.6871545967"/>
            <a:ext cx="478305.3431751579" cy="127154.31284540333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 flipV="1">
            <a:off x="10570464.0" y="2843784"/>
            <a:ext cx="295608.9590829313" cy="332894.3128454033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274855.040917069" y="2843784"/>
            <a:ext cx="295608.9590829313" cy="332894.3128454033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092158.656824842" y="2716629.6871545967"/>
            <a:ext cx="478305.3431751579" cy="127154.31284540333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570464.0" y="2487168.0"/>
            <a:ext cx="0.0" cy="173736.0"/>
          </a:xfrm>
          <a:prstGeom prst="line">
            <a:avLst/>
          </a:prstGeom>
          <a:ln w="12700">
            <a:solidFill>
              <a:srgbClr val="923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10747205.21942143" y="2730725.332516493"/>
            <a:ext cx="248541.7579273004" cy="66073.18294385262"/>
          </a:xfrm>
          <a:prstGeom prst="line">
            <a:avLst/>
          </a:prstGeom>
          <a:ln w="12700">
            <a:solidFill>
              <a:srgbClr val="923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 flipV="1">
            <a:off x="10691894.668636903" y="2980530.7992839124"/>
            <a:ext cx="137749.08985495754" cy="155123.4737763172"/>
          </a:xfrm>
          <a:prstGeom prst="line">
            <a:avLst/>
          </a:prstGeom>
          <a:ln w="12700">
            <a:solidFill>
              <a:srgbClr val="923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311284.24150814" y="2980530.7992839124"/>
            <a:ext cx="137749.08985495754" cy="155123.4737763172"/>
          </a:xfrm>
          <a:prstGeom prst="line">
            <a:avLst/>
          </a:prstGeom>
          <a:ln w="12700">
            <a:solidFill>
              <a:srgbClr val="923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145181.02265127" y="2730725.332516493"/>
            <a:ext cx="248541.7579273004" cy="66073.18294385262"/>
          </a:xfrm>
          <a:prstGeom prst="line">
            <a:avLst/>
          </a:prstGeom>
          <a:ln w="12700">
            <a:solidFill>
              <a:srgbClr val="923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10469880" y="2331720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469880" y="2331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64" name="Oval 163"/>
          <p:cNvSpPr/>
          <p:nvPr/>
        </p:nvSpPr>
        <p:spPr>
          <a:xfrm>
            <a:off x="10948185" y="2616045"/>
            <a:ext cx="201168" cy="20116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948185" y="2616045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166" name="Oval 165"/>
          <p:cNvSpPr/>
          <p:nvPr/>
        </p:nvSpPr>
        <p:spPr>
          <a:xfrm>
            <a:off x="10765488" y="3076094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765488" y="307609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68" name="Oval 167"/>
          <p:cNvSpPr/>
          <p:nvPr/>
        </p:nvSpPr>
        <p:spPr>
          <a:xfrm>
            <a:off x="10174271" y="3076094"/>
            <a:ext cx="201168" cy="201168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174271" y="307609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170" name="Oval 169"/>
          <p:cNvSpPr/>
          <p:nvPr/>
        </p:nvSpPr>
        <p:spPr>
          <a:xfrm>
            <a:off x="9991574" y="2616045"/>
            <a:ext cx="201168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991574" y="2616045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72" name="Oval 171"/>
          <p:cNvSpPr/>
          <p:nvPr/>
        </p:nvSpPr>
        <p:spPr>
          <a:xfrm>
            <a:off x="10424160" y="26974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424160" y="26974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?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381744" y="3419856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messages η</a:t>
            </a:r>
            <a:r>
              <a:rPr sz="700" b="0" i="1">
                <a:solidFill>
                  <a:srgbClr val="6B7280"/>
                </a:solidFill>
                <a:latin typeface="Calibri"/>
              </a:rPr>
              <a:t>i→0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→  BP / AMP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592824" y="3547872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2382C"/>
                </a:solidFill>
                <a:latin typeface="Calibri"/>
              </a:rPr>
              <a:t>PREDICTED PHASE DIAGRAM  ·  P(q) DISTRIBUTIONS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592824" y="3822192"/>
            <a:ext cx="517550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867144" y="3913632"/>
            <a:ext cx="914400" cy="713232"/>
          </a:xfrm>
          <a:prstGeom prst="roundRect">
            <a:avLst>
              <a:gd name="adj" fmla="val 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867144" y="41788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C5282"/>
                </a:solidFill>
                <a:latin typeface="Calibri"/>
              </a:rPr>
              <a:t>Consensus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781544" y="3913632"/>
            <a:ext cx="731520" cy="438912"/>
          </a:xfrm>
          <a:prstGeom prst="roundRect">
            <a:avLst>
              <a:gd name="adj" fmla="val 4000"/>
            </a:avLst>
          </a:prstGeom>
          <a:solidFill>
            <a:srgbClr val="FC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781544" y="40782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2382C"/>
                </a:solidFill>
                <a:latin typeface="Calibri"/>
              </a:rPr>
              <a:t>Ferro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781544" y="4352544"/>
            <a:ext cx="1463040" cy="274320"/>
          </a:xfrm>
          <a:prstGeom prst="roundRect">
            <a:avLst>
              <a:gd name="adj" fmla="val 4000"/>
            </a:avLst>
          </a:prstGeom>
          <a:solidFill>
            <a:srgbClr val="F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781544" y="4370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92382C"/>
                </a:solidFill>
                <a:latin typeface="Calibri"/>
              </a:rPr>
              <a:t>Glassy / polarized (RSB)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513064" y="3913632"/>
            <a:ext cx="731520" cy="438912"/>
          </a:xfrm>
          <a:prstGeom prst="roundRect">
            <a:avLst>
              <a:gd name="adj" fmla="val 4000"/>
            </a:avLst>
          </a:prstGeom>
          <a:solidFill>
            <a:srgbClr val="FC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513064" y="40782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2382C"/>
                </a:solidFill>
                <a:latin typeface="Calibri"/>
              </a:rPr>
              <a:t>Ferro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821424" y="464515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conformity  β →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592824" y="3895344"/>
            <a:ext cx="2560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σ_h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9610344" y="3913632"/>
            <a:ext cx="2011680" cy="713232"/>
          </a:xfrm>
          <a:prstGeom prst="roundRect">
            <a:avLst>
              <a:gd name="adj" fmla="val 6000"/>
            </a:avLst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83496" y="39319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1">
                <a:solidFill>
                  <a:srgbClr val="1F2937"/>
                </a:solidFill>
                <a:latin typeface="Calibri"/>
              </a:rPr>
              <a:t>P(q)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9793224" y="4535424"/>
            <a:ext cx="1737360" cy="0"/>
          </a:xfrm>
          <a:prstGeom prst="line">
            <a:avLst/>
          </a:prstGeom>
          <a:ln w="889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9701784" y="455371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479024" y="455371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0.5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01984" y="455371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193" name="Oval 192"/>
          <p:cNvSpPr/>
          <p:nvPr/>
        </p:nvSpPr>
        <p:spPr>
          <a:xfrm>
            <a:off x="9838944" y="4169664"/>
            <a:ext cx="91440" cy="36576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61904" y="4151376"/>
            <a:ext cx="91440" cy="384048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158984" y="4370832"/>
            <a:ext cx="182880" cy="164592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890504" y="4352544"/>
            <a:ext cx="182880" cy="182880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164824" y="4334256"/>
            <a:ext cx="182880" cy="20116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683496" y="407822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2C5282"/>
                </a:solidFill>
                <a:latin typeface="Calibri"/>
              </a:rPr>
              <a:t>consensus </a:t>
            </a:r>
            <a:r>
              <a:rPr sz="700" b="0" i="0">
                <a:solidFill>
                  <a:srgbClr val="6B7280"/>
                </a:solidFill>
                <a:latin typeface="Calibri"/>
              </a:rPr>
              <a:t>·  </a:t>
            </a:r>
            <a:r>
              <a:rPr sz="700" b="1" i="0">
                <a:solidFill>
                  <a:srgbClr val="D35400"/>
                </a:solidFill>
                <a:latin typeface="Calibri"/>
              </a:rPr>
              <a:t>ferro </a:t>
            </a:r>
            <a:r>
              <a:rPr sz="700" b="0" i="0">
                <a:solidFill>
                  <a:srgbClr val="6B7280"/>
                </a:solidFill>
                <a:latin typeface="Calibri"/>
              </a:rPr>
              <a:t>·  </a:t>
            </a:r>
            <a:r>
              <a:rPr sz="700" b="1" i="0">
                <a:solidFill>
                  <a:srgbClr val="92382C"/>
                </a:solidFill>
                <a:latin typeface="Calibri"/>
              </a:rPr>
              <a:t>glassy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56032" y="274320"/>
            <a:ext cx="1170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F2937"/>
                </a:solidFill>
                <a:latin typeface="Calibri"/>
              </a:rPr>
              <a:t>On the Statistical Mechanics of Multi-Agent Interactions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56032" y="713232"/>
            <a:ext cx="1170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6B7280"/>
                </a:solidFill>
                <a:latin typeface="Calibri"/>
              </a:rPr>
              <a:t>LLM agents with personas on a social graph  →  spin-glass mapping  →  replica &amp; cavity analysis  →  predicted phase diagram of opinion dynamics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56032" y="5989320"/>
            <a:ext cx="1170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5282"/>
                </a:solidFill>
                <a:latin typeface="Calibri"/>
              </a:rPr>
              <a:t>Theory side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(left):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the agent society is a spin glass with quenched personas and signed ties.   </a:t>
            </a:r>
            <a:r>
              <a:rPr sz="1200" b="1" i="0">
                <a:solidFill>
                  <a:srgbClr val="92382C"/>
                </a:solidFill>
                <a:latin typeface="Calibri"/>
              </a:rPr>
              <a:t>Empirical side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(right):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replica &amp; cavity calculations predict consensus, polarization, and glassy multi-cluster opinion phases.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